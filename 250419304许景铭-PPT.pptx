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34.png"/><Relationship Id="rId7" Type="http://schemas.openxmlformats.org/officeDocument/2006/relationships/image" Target="../media/image3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3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jpg"/><Relationship Id="rId4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35.png"/><Relationship Id="rId8" Type="http://schemas.openxmlformats.org/officeDocument/2006/relationships/image" Target="../media/image3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Relationship Id="rId8" Type="http://schemas.openxmlformats.org/officeDocument/2006/relationships/image" Target="../media/image3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0.jpg"/><Relationship Id="rId4" Type="http://schemas.openxmlformats.org/officeDocument/2006/relationships/image" Target="../media/image4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jpg"/><Relationship Id="rId4" Type="http://schemas.openxmlformats.org/officeDocument/2006/relationships/image" Target="../media/image17.png"/><Relationship Id="rId5" Type="http://schemas.openxmlformats.org/officeDocument/2006/relationships/image" Target="../media/image32.png"/><Relationship Id="rId6" Type="http://schemas.openxmlformats.org/officeDocument/2006/relationships/image" Target="../media/image3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0000">
                  <a:alpha val="75000"/>
                </a:srgbClr>
              </a:gs>
              <a:gs pos="100000">
                <a:srgbClr val="D6C096">
                  <a:alpha val="6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90815" y="2524125"/>
            <a:ext cx="5400539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2080"/>
              </a:spcAft>
            </a:pPr>
            <a:r>
              <a:rPr sz="3827" b="1">
                <a:solidFill>
                  <a:srgbClr val="FFFFFF"/>
                </a:solidFill>
              </a:rPr>
              <a:t>Office办公软件教程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2" y="3590924"/>
            <a:ext cx="1219169" cy="38100"/>
          </a:xfrm>
          <a:prstGeom prst="rect">
            <a:avLst/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90815" y="3933824"/>
            <a:ext cx="5400539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0">
                <a:solidFill>
                  <a:srgbClr val="FFFFFF"/>
                </a:solidFill>
              </a:rPr>
              <a:t>提升办公效率的必备技能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093" y="6172200"/>
            <a:ext cx="5238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FFFFFF"/>
                </a:solidFill>
              </a:rPr>
              <a:t> Word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267093" y="6221185"/>
            <a:ext cx="152396" cy="1306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43351" y="6191250"/>
            <a:ext cx="38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3846" y="6172200"/>
            <a:ext cx="5048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FFFFFF"/>
                </a:solidFill>
              </a:rPr>
              <a:t> Excel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133846" y="6221185"/>
            <a:ext cx="152396" cy="1306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91055" y="6191250"/>
            <a:ext cx="38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2025" y="6172200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FFFFFF"/>
                </a:solidFill>
              </a:rPr>
              <a:t> PowerPoint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972025" y="6226628"/>
            <a:ext cx="152396" cy="11974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38799" y="6191250"/>
            <a:ext cx="38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1D5DB"/>
                </a:solidFill>
              </a:rP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9294" y="6172200"/>
            <a:ext cx="6953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FFFFFF"/>
                </a:solidFill>
              </a:rPr>
              <a:t> Outlook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229294" y="6229350"/>
            <a:ext cx="152396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14300"/>
            <a:ext cx="33812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</a:rPr>
              <a:t>Office办公软件套装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88" y="1447800"/>
            <a:ext cx="3962300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28854" y="5638799"/>
            <a:ext cx="1743031" cy="723900"/>
          </a:xfrm>
          <a:prstGeom prst="roundRect">
            <a:avLst>
              <a:gd name="adj" fmla="val 21052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57448" y="5753099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Microsoft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7448" y="5943600"/>
            <a:ext cx="128584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Office 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81470" y="24574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305292" y="2601685"/>
            <a:ext cx="285742" cy="244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67253" y="2457450"/>
            <a:ext cx="233356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</a:rPr>
              <a:t>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253" y="2933699"/>
            <a:ext cx="233356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文档编辑与排版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5612" y="24574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29434" y="2601685"/>
            <a:ext cx="285742" cy="244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91395" y="2457450"/>
            <a:ext cx="233356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</a:rPr>
              <a:t>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1395" y="2933699"/>
            <a:ext cx="233356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数据处理与分析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81470" y="34480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305292" y="3603948"/>
            <a:ext cx="285742" cy="2216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67253" y="3448049"/>
            <a:ext cx="233356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</a:rPr>
              <a:t>PowerPoint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7253" y="3924299"/>
            <a:ext cx="233356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演示文稿制作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5612" y="34480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629434" y="3612696"/>
            <a:ext cx="285742" cy="2041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91395" y="3448049"/>
            <a:ext cx="233356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</a:rPr>
              <a:t>Outlook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1395" y="3924299"/>
            <a:ext cx="233356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邮件管理与日程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81470" y="44386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305292" y="4603296"/>
            <a:ext cx="285742" cy="2041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67253" y="4438649"/>
            <a:ext cx="565770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</a:rPr>
              <a:t>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253" y="4914900"/>
            <a:ext cx="56577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数据库管理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52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114300"/>
            <a:ext cx="26002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</a:rPr>
              <a:t>Word 文档处理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40969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1518957"/>
            <a:ext cx="190495" cy="162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0119" y="1371600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文档创建与保存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19" y="1771650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新建文档、另存为、自动保存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1980" y="2424952"/>
            <a:ext cx="190495" cy="1792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2286000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文本编辑与格式化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19" y="2705099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字体、字号、颜色、加粗、斜体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32575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3372410"/>
            <a:ext cx="190495" cy="1512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0119" y="3219449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段落排版与页面设置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19" y="3619499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对齐、缩进、间距、页眉页脚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1719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428681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0119" y="4133849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表格制作与图文混排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4552949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插入表格、图片、图表、形状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43500"/>
            <a:ext cx="6343491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51748" y="5658485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5414962"/>
            <a:ext cx="228594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38219" y="5334000"/>
            <a:ext cx="62863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</a:rPr>
              <a:t>快捷键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5753099"/>
            <a:ext cx="866753" cy="352424"/>
          </a:xfrm>
          <a:prstGeom prst="roundRect">
            <a:avLst>
              <a:gd name="adj" fmla="val 21621"/>
            </a:avLst>
          </a:prstGeom>
          <a:solidFill>
            <a:srgbClr val="F3F4F6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38279" y="5791200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复制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47863" y="5753099"/>
            <a:ext cx="866753" cy="352424"/>
          </a:xfrm>
          <a:prstGeom prst="roundRect">
            <a:avLst>
              <a:gd name="adj" fmla="val 21621"/>
            </a:avLst>
          </a:prstGeom>
          <a:solidFill>
            <a:srgbClr val="F3F4F6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90815" y="5791200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粘贴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00399" y="5753099"/>
            <a:ext cx="866753" cy="352424"/>
          </a:xfrm>
          <a:prstGeom prst="roundRect">
            <a:avLst>
              <a:gd name="adj" fmla="val 21621"/>
            </a:avLst>
          </a:prstGeom>
          <a:solidFill>
            <a:srgbClr val="F3F4F6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3826" y="5791200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剪切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19809" y="1152524"/>
            <a:ext cx="3905152" cy="4952999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19809" y="6257925"/>
            <a:ext cx="390515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</a:rPr>
              <a:t>Word文档编辑界面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5204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114300"/>
            <a:ext cx="255263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</a:rPr>
              <a:t>Excel 数据处理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152524"/>
            <a:ext cx="3905152" cy="495299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6257925"/>
            <a:ext cx="390515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</a:rPr>
              <a:t>Excel电子表格界面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1470" y="140969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276718" y="15245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4857" y="1371600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数据录入与表格创建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4857" y="1771650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输入数据、调整格式、设置单元格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1470" y="232410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276718" y="2444563"/>
            <a:ext cx="190495" cy="1400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4857" y="2286000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公式与函数应用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4857" y="2705099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SUM、AVERAGE、IF等常用函数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81470" y="32575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276718" y="3372410"/>
            <a:ext cx="190495" cy="1512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4857" y="3219449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数据图表制作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4857" y="3619499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柱状图、折线图、饼图等可视化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81470" y="41719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276718" y="4286810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4857" y="4133849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数据分析与透视表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4857" y="4552949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数据透视表、数据透视图快速分析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1470" y="5143500"/>
            <a:ext cx="6343491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4666485" y="5658485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410064" y="5414962"/>
            <a:ext cx="228594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52956" y="5334000"/>
            <a:ext cx="62863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</a:rPr>
              <a:t>快捷键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10064" y="5753099"/>
            <a:ext cx="866753" cy="352424"/>
          </a:xfrm>
          <a:prstGeom prst="roundRect">
            <a:avLst>
              <a:gd name="adj" fmla="val 21621"/>
            </a:avLst>
          </a:prstGeom>
          <a:solidFill>
            <a:srgbClr val="F3F4F6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3016" y="5791200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保存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62600" y="5753099"/>
            <a:ext cx="866753" cy="352424"/>
          </a:xfrm>
          <a:prstGeom prst="roundRect">
            <a:avLst>
              <a:gd name="adj" fmla="val 21621"/>
            </a:avLst>
          </a:prstGeom>
          <a:solidFill>
            <a:srgbClr val="F3F4F6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5552" y="5791200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撤销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15137" y="5753099"/>
            <a:ext cx="866753" cy="352424"/>
          </a:xfrm>
          <a:prstGeom prst="roundRect">
            <a:avLst>
              <a:gd name="adj" fmla="val 21621"/>
            </a:avLst>
          </a:prstGeom>
          <a:solidFill>
            <a:srgbClr val="F3F4F6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48563" y="5791200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查找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7028"/>
            <a:ext cx="342891" cy="2660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114300"/>
            <a:ext cx="38003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</a:rPr>
              <a:t>PowerPoint 演示制作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409699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61980" y="1524560"/>
            <a:ext cx="190495" cy="1512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0119" y="1371600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幻灯片设计与布局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19" y="1771650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版式选择、主题设置、颜色方案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32410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1980" y="2438960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2286000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文本、图片、图表插入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19" y="2705099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文本框、图片、SmartArt、图表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32575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3366807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0119" y="3219449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动画效果设置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19" y="3619499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进入动画、强调动画、退出动画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1719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4349917"/>
            <a:ext cx="190495" cy="2506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0119" y="4133849"/>
            <a:ext cx="5810104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260"/>
              </a:spcAft>
            </a:pPr>
            <a:r>
              <a:rPr sz="1554" b="1">
                <a:solidFill>
                  <a:srgbClr val="000000"/>
                </a:solidFill>
              </a:rPr>
              <a:t>幻灯片切换与放映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4552949"/>
            <a:ext cx="581010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</a:rPr>
              <a:t>切换效果、放映方式、备注页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43500"/>
            <a:ext cx="6343491" cy="1162050"/>
          </a:xfrm>
          <a:prstGeom prst="roundRect">
            <a:avLst>
              <a:gd name="adj" fmla="val 1311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51748" y="5658485"/>
            <a:ext cx="116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95327" y="5414962"/>
            <a:ext cx="228594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38219" y="5334000"/>
            <a:ext cx="628634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0000"/>
                </a:solidFill>
              </a:rPr>
              <a:t>快捷键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5753099"/>
            <a:ext cx="457188" cy="352424"/>
          </a:xfrm>
          <a:prstGeom prst="roundRect">
            <a:avLst>
              <a:gd name="adj" fmla="val 21621"/>
            </a:avLst>
          </a:prstGeom>
          <a:solidFill>
            <a:srgbClr val="F3F4F6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14" y="5791200"/>
            <a:ext cx="76198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从头放映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95487" y="5753099"/>
            <a:ext cx="1066773" cy="352424"/>
          </a:xfrm>
          <a:prstGeom prst="roundRect">
            <a:avLst>
              <a:gd name="adj" fmla="val 21621"/>
            </a:avLst>
          </a:prstGeom>
          <a:solidFill>
            <a:srgbClr val="F3F4F6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8459" y="5791200"/>
            <a:ext cx="114297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从当前页放映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19809" y="1152524"/>
            <a:ext cx="3905152" cy="4952999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19809" y="6257925"/>
            <a:ext cx="390515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</a:rPr>
              <a:t>PowerPoint演示界面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93632"/>
            <a:ext cx="342891" cy="2128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114300"/>
            <a:ext cx="26669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</a:rPr>
              <a:t>常用快捷键汇总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9621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9129" y="1790700"/>
            <a:ext cx="1333466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0000"/>
                </a:solidFill>
              </a:rPr>
              <a:t>通用快捷键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305049"/>
            <a:ext cx="790555" cy="352424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1585" y="2343150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复制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67053" y="2305049"/>
            <a:ext cx="790555" cy="352424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1905" y="2343150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粘贴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2781300"/>
            <a:ext cx="790555" cy="352424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1585" y="2809875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剪切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67053" y="2781300"/>
            <a:ext cx="790555" cy="352424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1905" y="2809875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撤销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238500"/>
            <a:ext cx="790555" cy="352424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1585" y="3276599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保存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67053" y="3238500"/>
            <a:ext cx="790555" cy="352424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1905" y="3276599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全选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3714750"/>
            <a:ext cx="790555" cy="352424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1585" y="3743325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查找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67053" y="3714750"/>
            <a:ext cx="790555" cy="352424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71905" y="3743325"/>
            <a:ext cx="380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替换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44196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129" y="4286250"/>
            <a:ext cx="105724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</a:rPr>
              <a:t>Word专用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4743450"/>
            <a:ext cx="723881" cy="32384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12" y="4781549"/>
            <a:ext cx="34289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</a:rPr>
              <a:t>加粗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5143500"/>
            <a:ext cx="723881" cy="32384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4912" y="5181599"/>
            <a:ext cx="34289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</a:rPr>
              <a:t>斜体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733" y="5543550"/>
            <a:ext cx="723881" cy="32384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12" y="5581649"/>
            <a:ext cx="5143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</a:rPr>
              <a:t>下划线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67053" y="44196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19449" y="4286250"/>
            <a:ext cx="102867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</a:rPr>
              <a:t>Excel专用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67053" y="4743450"/>
            <a:ext cx="723881" cy="32384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7133" y="4781549"/>
            <a:ext cx="102867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</a:rPr>
              <a:t>输入当前日期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67053" y="5143500"/>
            <a:ext cx="1266793" cy="32384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0044" y="5181599"/>
            <a:ext cx="1028674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74151"/>
                </a:solidFill>
              </a:rPr>
              <a:t>输入当前时间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5967" y="1352549"/>
            <a:ext cx="4228994" cy="495299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95967" y="5391150"/>
            <a:ext cx="4228994" cy="923924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86462" y="5747754"/>
            <a:ext cx="285742" cy="20119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886502" y="5581649"/>
            <a:ext cx="1523961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提升办公效率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6502" y="588645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掌握快捷键，事半功倍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41902"/>
            <a:ext cx="342891" cy="3162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114300"/>
            <a:ext cx="342891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000000"/>
                </a:solidFill>
              </a:rPr>
              <a:t>提升办公效率的技巧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057275"/>
            <a:ext cx="3981350" cy="51435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6353174"/>
            <a:ext cx="398135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B7280"/>
                </a:solidFill>
              </a:rPr>
              <a:t>高效办公场景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5272" y="1866899"/>
            <a:ext cx="6419689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4580763" y="2391408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333866" y="2144485"/>
            <a:ext cx="285742" cy="244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33906" y="2057400"/>
            <a:ext cx="128584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0000"/>
                </a:solidFill>
              </a:rPr>
              <a:t>Word 技巧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3866" y="26860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7213" y="2571750"/>
            <a:ext cx="152396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使用样式统一格式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2165" y="26860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5512" y="2571750"/>
            <a:ext cx="114297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自动生成目录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0464" y="26860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43811" y="2571750"/>
            <a:ext cx="114297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邮件合并功能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5272" y="3238500"/>
            <a:ext cx="6419689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4580763" y="3763009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333866" y="3516085"/>
            <a:ext cx="285742" cy="244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33906" y="3429000"/>
            <a:ext cx="125726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0000"/>
                </a:solidFill>
              </a:rPr>
              <a:t>Excel 技巧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3866" y="4057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67213" y="3943350"/>
            <a:ext cx="152396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数据验证减少错误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2165" y="4057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5512" y="3943350"/>
            <a:ext cx="152396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条件格式突出数据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0464" y="40576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3811" y="3943350"/>
            <a:ext cx="133346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数据透视表分析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05272" y="4610099"/>
            <a:ext cx="6419689" cy="1181099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4580763" y="5134608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333866" y="4899348"/>
            <a:ext cx="285742" cy="22160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33906" y="4800600"/>
            <a:ext cx="212402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0000"/>
                </a:solidFill>
              </a:rPr>
              <a:t>PowerPoint 技巧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33866" y="54292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67213" y="5314950"/>
            <a:ext cx="152396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使用母版统一设计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72165" y="54292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05512" y="5314950"/>
            <a:ext cx="152396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动画效果适度使用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10464" y="5429250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43811" y="5314950"/>
            <a:ext cx="124774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排版遵循6原则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3F1ED">
                  <a:alpha val="92000"/>
                </a:srgbClr>
              </a:gs>
              <a:gs pos="100000">
                <a:srgbClr val="D6C096">
                  <a:alpha val="8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86022" y="1257300"/>
            <a:ext cx="6010124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1040"/>
              </a:spcAft>
            </a:pPr>
            <a:r>
              <a:rPr sz="3827" b="1">
                <a:solidFill>
                  <a:srgbClr val="000000"/>
                </a:solidFill>
              </a:rPr>
              <a:t>掌握Office，提升效率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262" y="2324100"/>
            <a:ext cx="1219169" cy="38100"/>
          </a:xfrm>
          <a:prstGeom prst="rect">
            <a:avLst/>
          </a:prstGeom>
          <a:solidFill>
            <a:srgbClr val="D6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697" y="2971800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267093" y="3178342"/>
            <a:ext cx="457188" cy="348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24201" y="3886200"/>
            <a:ext cx="114297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</a:rPr>
              <a:t>持续学习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4201" y="4362450"/>
            <a:ext cx="114297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不断进步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4857" y="2971800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67253" y="3160294"/>
            <a:ext cx="457188" cy="3850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24361" y="3886200"/>
            <a:ext cx="114297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</a:rPr>
              <a:t>多练习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361" y="4362450"/>
            <a:ext cx="114297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熟能生巧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017" y="2971800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67413" y="3160294"/>
            <a:ext cx="457188" cy="3850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24521" y="3886200"/>
            <a:ext cx="114297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000000"/>
                </a:solidFill>
              </a:rPr>
              <a:t>探索更多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4521" y="4362450"/>
            <a:ext cx="114297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</a:rPr>
              <a:t>发挥强大作用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181" y="5257800"/>
            <a:ext cx="475285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000000"/>
                </a:solidFill>
              </a:rPr>
              <a:t>让Office成为您的得力助手，开启高效办公之旅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